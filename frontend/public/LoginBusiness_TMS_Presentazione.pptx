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468880"/>
            <a:ext cx="457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 Light"/>
              </a:defRPr>
            </a:pPr>
            <a:r>
              <a:t>LoginBusiness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2D3EE"/>
                </a:solidFill>
                <a:latin typeface="Calibri Light"/>
              </a:defRPr>
            </a:pPr>
            <a:r>
              <a:t>Transport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Calibri"/>
              </a:defRPr>
            </a:pPr>
            <a:r>
              <a:t>Sistema integrato per la gestione del ciclo completo</a:t>
            </a:r>
          </a:p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Calibri"/>
              </a:defRPr>
            </a:pPr>
            <a:r>
              <a:t>di trasporto: ordini, pianificazione, viaggi,</a:t>
            </a:r>
          </a:p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Calibri"/>
              </a:defRPr>
            </a:pPr>
            <a:r>
              <a:t>fatturazione e monitoraggio flotta GPS.</a:t>
            </a:r>
          </a:p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Calibri"/>
              </a:defRPr>
            </a:pPr>
            <a:r>
              <a:t>Progetto RC-FEC-25001 — FECCIA F.lli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Powered by Res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Funzionalità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24712"/>
            <a:ext cx="73152" cy="219456"/>
          </a:xfrm>
          <a:prstGeom prst="rect">
            <a:avLst/>
          </a:prstGeom>
          <a:solidFill>
            <a:srgbClr val="0E7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A81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05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3"/>
                </a:solidFill>
                <a:latin typeface="Calibri"/>
              </a:defRPr>
            </a:pPr>
            <a:r>
              <a:t>Accesso Sicuro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Autenticazione con ruoli (Admin, Planner, Operatore, Amministrazione)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09928"/>
            <a:ext cx="73152" cy="219456"/>
          </a:xfrm>
          <a:prstGeom prst="rect">
            <a:avLst/>
          </a:prstGeom>
          <a:solidFill>
            <a:srgbClr val="0E7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367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A81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36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3"/>
                </a:solidFill>
                <a:latin typeface="Calibri"/>
              </a:defRPr>
            </a:pPr>
            <a:r>
              <a:t>Dashboard Operativa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3677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KPI in tempo reale, grafico trend, ordini recenti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95144"/>
            <a:ext cx="73152" cy="219456"/>
          </a:xfrm>
          <a:prstGeom prst="rect">
            <a:avLst/>
          </a:prstGeom>
          <a:solidFill>
            <a:srgbClr val="0E7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219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A81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219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3"/>
                </a:solidFill>
                <a:latin typeface="Calibri"/>
              </a:defRPr>
            </a:pPr>
            <a:r>
              <a:t>Anagrafiche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2199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Clienti, destinazioni, veicoli con GPS, autisti, vettori, prodotti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80360"/>
            <a:ext cx="73152" cy="219456"/>
          </a:xfrm>
          <a:prstGeom prst="rect">
            <a:avLst/>
          </a:prstGeom>
          <a:solidFill>
            <a:srgbClr val="0E7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07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A81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807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3"/>
                </a:solidFill>
                <a:latin typeface="Calibri"/>
              </a:defRPr>
            </a:pPr>
            <a:r>
              <a:t>Raccolta Ordini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072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Creazione ordini con lookup automatico tariffa da listino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65576"/>
            <a:ext cx="73152" cy="219456"/>
          </a:xfrm>
          <a:prstGeom prst="rect">
            <a:avLst/>
          </a:prstGeom>
          <a:solidFill>
            <a:srgbClr val="0E7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9242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A81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3924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3"/>
                </a:solidFill>
                <a:latin typeface="Calibri"/>
              </a:defRPr>
            </a:pPr>
            <a:r>
              <a:t>Planner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39242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Griglie duali Partenze/Rientri con assegnazione e disponibilità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50791"/>
            <a:ext cx="73152" cy="219456"/>
          </a:xfrm>
          <a:prstGeom prst="rect">
            <a:avLst/>
          </a:prstGeom>
          <a:solidFill>
            <a:srgbClr val="0E7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776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A81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3"/>
                </a:solidFill>
                <a:latin typeface="Calibri"/>
              </a:defRPr>
            </a:pPr>
            <a:r>
              <a:t>Mappa Viaggi GPS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9776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Percorsi stradali reali OSRM, tracking GPS live, ETA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36008"/>
            <a:ext cx="73152" cy="219456"/>
          </a:xfrm>
          <a:prstGeom prst="rect">
            <a:avLst/>
          </a:prstGeom>
          <a:solidFill>
            <a:srgbClr val="0E7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628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A81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5628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3"/>
                </a:solidFill>
                <a:latin typeface="Calibri"/>
              </a:defRPr>
            </a:pPr>
            <a:r>
              <a:t>Gestione Viaggi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56285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Raggruppamento ordini, monitoraggio, completamento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221224"/>
            <a:ext cx="73152" cy="219456"/>
          </a:xfrm>
          <a:prstGeom prst="rect">
            <a:avLst/>
          </a:prstGeom>
          <a:solidFill>
            <a:srgbClr val="0E7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148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A81"/>
                </a:solidFill>
                <a:latin typeface="Calibri"/>
              </a:defRPr>
            </a:pPr>
            <a:r>
              <a:t>8.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148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3"/>
                </a:solidFill>
                <a:latin typeface="Calibri"/>
              </a:defRPr>
            </a:pPr>
            <a:r>
              <a:t>Listini Tariffari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148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90 regole su 9 clienti, tariffe per tratta/prodotto/peso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73152" cy="219456"/>
          </a:xfrm>
          <a:prstGeom prst="rect">
            <a:avLst/>
          </a:prstGeom>
          <a:solidFill>
            <a:srgbClr val="0E7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7332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A81"/>
                </a:solidFill>
                <a:latin typeface="Calibri"/>
              </a:defRPr>
            </a:pPr>
            <a:r>
              <a:t>9.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733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3"/>
                </a:solidFill>
                <a:latin typeface="Calibri"/>
              </a:defRPr>
            </a:pPr>
            <a:r>
              <a:t>Fatturazione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7332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Ciclo proforma → definitiva, creazione da ordini chiusi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1. Accesso Sicuro</a:t>
            </a:r>
          </a:p>
        </p:txBody>
      </p:sp>
      <p:pic>
        <p:nvPicPr>
          <p:cNvPr id="4" name="Picture 3" descr="01_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05840"/>
            <a:ext cx="68580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09728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Schermata di login con autenticazione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protetta tramite cookie httpOnly.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Funzionalità: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• Accesso con email e password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• Cookie sicuro (httpOnly, SameSite)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• Gestione sessione persistente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• Profili utente per ruolo: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  — Admin: accesso completo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  — Planner: pianificazione e viaggi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  — Operatore: ordini e anagrafiche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  — Amministrazione: fatturazione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Design split-screen con branding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aziendale e form di accesso.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2. Dashboard Operativa</a:t>
            </a:r>
          </a:p>
        </p:txBody>
      </p:sp>
      <p:pic>
        <p:nvPicPr>
          <p:cNvPr id="4" name="Picture 3" descr="02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23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KPI: Ordini totali (61), In viaggio (23), Clienti (15), Fatturato (€ 29.750).  |  Grafico andamento mensile  |  Tabella ordini recenti con badge stato colorati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3a. Anagrafiche — Clienti</a:t>
            </a:r>
          </a:p>
        </p:txBody>
      </p:sp>
      <p:pic>
        <p:nvPicPr>
          <p:cNvPr id="4" name="Picture 3" descr="03_client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23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15 clienti del settore alimentare: Barilla, Nestlé, Ferrero, Parmalat, Mutti, Granarolo, VOG Products, De Cecco, Heineken e altri.  CRUD completo con ricerca, modifica, eliminazione.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3b. Anagrafiche — Destinazioni e Autisti</a:t>
            </a:r>
          </a:p>
        </p:txBody>
      </p:sp>
      <p:pic>
        <p:nvPicPr>
          <p:cNvPr id="4" name="Picture 3" descr="04_destinazio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852160" cy="3017520"/>
          </a:xfrm>
          <a:prstGeom prst="rect">
            <a:avLst/>
          </a:prstGeom>
        </p:spPr>
      </p:pic>
      <p:pic>
        <p:nvPicPr>
          <p:cNvPr id="5" name="Picture 4" descr="17_autist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85216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25 destinazioni Italia + Europa: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Italia: Laives, Parma, Milano, Roma,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Bologna, Torino, Verona, Cuneo, Lodi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Europa: Bruxelles, Zurigo, Amburgo,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Monaco, Rotterdam, Barcellona, Vienna,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Lione, Marsiglia, Innsbruck e altre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Vincoli di scarico configurabili.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10 autisti con: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Patente CE e CE+ADR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Scadenza patente monitorata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Recapiti telefonici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Gestione indisponibilità integrata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(ferie, malattia, permessi)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Disponibilità verificata in tempo reale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dal Planner al momento dell'assegnazione.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3c. Anagrafiche — Flotta Veicoli e GPS Tracking</a:t>
            </a:r>
          </a:p>
        </p:txBody>
      </p:sp>
      <p:pic>
        <p:nvPicPr>
          <p:cNvPr id="4" name="Picture 3" descr="05_veico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14 veicoli nella flotta: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8 motrici: IVECO, MAN, SCANIA, MERCEDES,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VOLVO, DAF, RENAULT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4 rimorchi isotermici: KRONE, LAMBERET,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CARRIER, SCHMITZ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1 container MAERSK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Integrazione GPS Tracking: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Link al portale GPS del provider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Provider supportati: Garmin Fleet, Verizon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Connect, Geotab, Teltonika, Webfleet, Samsara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Ricezione posizione via webhook API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Indicatore GPS attivo nella tabella veicoli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4. Raccolta Ordini</a:t>
            </a:r>
          </a:p>
        </p:txBody>
      </p:sp>
      <p:pic>
        <p:nvPicPr>
          <p:cNvPr id="4" name="Picture 3" descr="06_ordi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60+ ordini con informazioni complete: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Cliente, destinazione carico/scarico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Date e orari ritiro/consegna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Tariffa (forfait o €/Kg)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Tipologia: Import/Export/Nazionale/Solo Estero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Categoria trasporto: Standard, GMP, Kosher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Rif. ordine cliente per fatturazione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297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Funzionalità avanzate: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Filtri per stato e tipologia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Ricerca full-text su tutti i campi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Lookup automatico tariffa da listino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al momento della creazione ordine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Export Excel con un click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Badge stato colorati per identificazione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immediata (giallo/rosso/arancione/verde)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4b. Creazione Nuovo Ordine</a:t>
            </a:r>
          </a:p>
        </p:txBody>
      </p:sp>
      <p:pic>
        <p:nvPicPr>
          <p:cNvPr id="4" name="Picture 3" descr="07_nuovo_ord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82296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Form completo per inserimento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ordine con tutti i campi previsti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dall'analisi tecnica: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Selezione cliente da anagrafica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Destinazione carico e scarico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(con dropdown destinazioni)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Date e orari ritiro/consegna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Tariffa e tipo (forfait/€Kg)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Tipologia trasporto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Categoria (Standard/GMP/Kosher)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Note libere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Quando si selezionano cliente +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carico + scarico, il sistema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propone automaticamente la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tariffa dal listino attivo.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5a. Planner — Vista Completa</a:t>
            </a:r>
          </a:p>
        </p:txBody>
      </p:sp>
      <p:pic>
        <p:nvPicPr>
          <p:cNvPr id="4" name="Picture 3" descr="08_pl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Griglia operativa con 11 colonne: Progressivo, Date Carico/Scarico, Tipo, Partenza, Destino, Cliente, Mezzo, Autista, Stato, Azioni.  Filtri per range date e sub-filtro stato (Tutti/Da pianificare/In viaggio/Chiusi).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Azioni rapide: «Assegna» per assegnare mezzo, rimorchio, autista e vettore — «Chiudi» per confermare la consegna. Pulsanti «Disponibilità» e «Indisponibilità» nella toolbar.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5b. Planner V2 — Griglie Duali Partenze / Rientri</a:t>
            </a:r>
          </a:p>
        </p:txBody>
      </p:sp>
      <p:pic>
        <p:nvPicPr>
          <p:cNvPr id="4" name="Picture 3" descr="09_partenz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852160" cy="3017520"/>
          </a:xfrm>
          <a:prstGeom prst="rect">
            <a:avLst/>
          </a:prstGeom>
        </p:spPr>
      </p:pic>
      <p:pic>
        <p:nvPicPr>
          <p:cNvPr id="5" name="Picture 4" descr="10_rientr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85216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11480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Tab PARTENZE — due griglie: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Italia → Estero (Export)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Ordini in partenza verso l'Europa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Italia → Italia (Nazionale)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Consegne sul territorio nazionale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Vista ottimizzata per operatività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a doppio schermo come da mockup.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11480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Tab RIENTRI — due griglie: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Estero → Italia (Import)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Rientri dall'Europa con mezzi propri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Estero → Estero (Solo Estero)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Tratte internazionali complete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Stesso layout e azioni della vista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classica, con filtraggio automatico.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5c. Disponibilità Mezzi e Autisti</a:t>
            </a:r>
          </a:p>
        </p:txBody>
      </p:sp>
      <p:pic>
        <p:nvPicPr>
          <p:cNvPr id="4" name="Picture 3" descr="11_disponibili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82296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Pannello disponibilità in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tempo reale accessibile dal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Planner con un click.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Mezzi (14):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Verde = Disponibile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Rosso = Occupato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(in viaggio nel periodo)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Autisti (10):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Verde = Disponibile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Rosso = Occupato (viaggio)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Ambra = Indisponibile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(ferie/malattia/permesso)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Gestione indisponibilità con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dialog dedicato: crea, visualizza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e cancella periodi di assenza.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6. Mappa Viaggi con GPS Live</a:t>
            </a:r>
          </a:p>
        </p:txBody>
      </p:sp>
      <p:pic>
        <p:nvPicPr>
          <p:cNvPr id="4" name="Picture 3" descr="12_mappa_g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Visualizzazione mappa interattiva: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Percorsi stradali reali (OSRM)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Marker camion con posizione GPS live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(bordo ciano pulsante per GPS attivo)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25 destinazioni come POI sulla mappa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Garage base con icona dedicata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Filtri per mezzo e stato ordine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Pannello laterale per viaggio: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Badge «LIVE» per GPS attivo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Km totali e km rimanenti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ETA calcolata su velocità reale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Velocità attuale del mezzo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Barra progresso (ciano=GPS, rosso=stimato)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Link diretto al portale GPS tracker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7. Gestione Viaggi</a:t>
            </a:r>
          </a:p>
        </p:txBody>
      </p:sp>
      <p:pic>
        <p:nvPicPr>
          <p:cNvPr id="4" name="Picture 3" descr="13_viagg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10 viaggi in corso con: ID, Motrice, Rimorchio, Autista, Garage base, numero Ordini associati, Km totali, Stato.  Creazione viaggio selezionando ordini pianificabili + mezzo + autista + garage.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Completamento viaggio: chiude automaticamente tutti gli ordini associati, portandoli a stato CHIUSO e pronti per la fatturazione.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8a. Listini Tariffari</a:t>
            </a:r>
          </a:p>
        </p:txBody>
      </p:sp>
      <p:pic>
        <p:nvPicPr>
          <p:cNvPr id="4" name="Picture 3" descr="14_listi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9 listini attivi per i principali clienti: VOG Products (12 regole), Barilla (12), Nestlé (12), Parmalat (11), Ferrero (9), Mutti (9), Granarolo (9), Heineken (8), De Cecco (8).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t>Ogni listino ha validità temporale, badge «In uso» per contratti attivi, contatore regole.  Click sulla riga apre il dettaglio con editor regole completo.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8b. Dettaglio Regole Tariffarie</a:t>
            </a:r>
          </a:p>
        </p:txBody>
      </p:sp>
      <p:pic>
        <p:nvPicPr>
          <p:cNvPr id="4" name="Picture 3" descr="15_listino_rego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82296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0"/>
            <a:ext cx="3017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Esempio: Listino VOG Products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con 12 regole tariffarie.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Ogni regola specifica: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Prodotto (o «Qualsiasi»)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Tratta (carico → scarico)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Tariffa (€) e tipo (Forfait/€Kg)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Range peso (min-max Kg)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Minimo tassabile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Tipo trasporto (Stradale/Intermod.)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% adeguamento carburante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Azioni per riga: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Modifica (matita) con dialog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precompilato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Elimina (cestino) con item_id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stabile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Regola generica (€/Kg con range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peso) come fallback.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9. Fatturazione</a:t>
            </a:r>
          </a:p>
        </p:txBody>
      </p:sp>
      <p:pic>
        <p:nvPicPr>
          <p:cNvPr id="4" name="Picture 3" descr="16_fatturaz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Ciclo fatturazione completo: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Tab Proforma (4) e Definitive (5)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Creazione proforma da ordini CHIUSI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Selezione ordini da fatturare con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filtro per cliente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Calcolo totale automatico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Finalizzazione fattura: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Proforma → Definitiva con un click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Ordini passano a stato FATTURATO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Supporto fatture libere (non legate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  a ordini specifici)</a:t>
            </a:r>
          </a:p>
          <a:p>
            <a:pPr>
              <a:spcAft>
                <a:spcPts val="400"/>
              </a:spcAft>
              <a:defRPr sz="1100">
                <a:solidFill>
                  <a:srgbClr val="1A2333"/>
                </a:solidFill>
                <a:latin typeface="Calibri"/>
              </a:defRPr>
            </a:pPr>
            <a:r>
              <a:t>• Dettaglio fattura con righe e totali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Ciclo Operativo — Stati dell'Ordine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286000" cy="1188720"/>
          </a:xfrm>
          <a:prstGeom prst="roundRect">
            <a:avLst/>
          </a:prstGeom>
          <a:solidFill>
            <a:srgbClr val="FFF4CC"/>
          </a:solidFill>
          <a:ln>
            <a:solidFill>
              <a:srgbClr val="FFF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A4B00"/>
                </a:solidFill>
              </a:defRPr>
            </a:pPr>
            <a:r>
              <a:t>PIANIFICABILE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Ordine inserito</a:t>
            </a:r>
            <a:br/>
            <a:r>
              <a:t>In attesa di mezzo/autista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286000" cy="1188720"/>
          </a:xfrm>
          <a:prstGeom prst="roundRect">
            <a:avLst/>
          </a:prstGeom>
          <a:solidFill>
            <a:srgbClr val="FFE2E2"/>
          </a:solidFill>
          <a:ln>
            <a:solidFill>
              <a:srgbClr val="FF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A1F1F"/>
                </a:solidFill>
              </a:defRPr>
            </a:pPr>
            <a:r>
              <a:t>IN VIAGGIO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Mezzo assegnato</a:t>
            </a:r>
            <a:br/>
            <a:r>
              <a:t>Trasporto in corso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286000" cy="1188720"/>
          </a:xfrm>
          <a:prstGeom prst="roundRect">
            <a:avLst/>
          </a:prstGeom>
          <a:solidFill>
            <a:srgbClr val="FFE9D6"/>
          </a:solidFill>
          <a:ln>
            <a:solidFill>
              <a:srgbClr val="FFE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7A3B08"/>
                </a:solidFill>
              </a:defRPr>
            </a:pPr>
            <a:r>
              <a:t>CHIUSO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Consegna confermata</a:t>
            </a:r>
            <a:br/>
            <a:r>
              <a:t>Pronto per fatturazione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2286000" cy="1188720"/>
          </a:xfrm>
          <a:prstGeom prst="roundRect">
            <a:avLst/>
          </a:prstGeom>
          <a:solidFill>
            <a:srgbClr val="DFF7E9"/>
          </a:solidFill>
          <a:ln>
            <a:solidFill>
              <a:srgbClr val="DFF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5132"/>
                </a:solidFill>
              </a:defRPr>
            </a:pPr>
            <a:r>
              <a:t>FATTURATO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Fattura emessa</a:t>
            </a:r>
            <a:br/>
            <a:r>
              <a:t>e validata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Transizioni controllate e validate dal backend: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•  Solo ordini PIANIFICABILE possono essere assegnati a un viaggio (→ IN VIAGGIO)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•  Solo ordini IN VIAGGIO possono essere chiusi alla consegna (→ CHIUSO)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•  Solo ordini CHIUSI possono essere inclusi in una fattura (→ FATTURATO)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•  La finalizzazione della fattura porta automaticamente gli ordini associati a FATTURATO</a:t>
            </a: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A2333"/>
                </a:solidFill>
                <a:latin typeface="Calibri"/>
              </a:defRPr>
            </a:pPr>
            <a:r>
              <a:t>Ogni transizione è validata dal sistema e non può essere bypassata dall'utente.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457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Riepilogo e Prossimi Sviluppi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D3EE"/>
                </a:solidFill>
                <a:latin typeface="Calibri Light"/>
              </a:defRPr>
            </a:pPr>
            <a:r>
              <a:t>Roadmap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2D3EE"/>
                </a:solidFill>
                <a:latin typeface="Calibri"/>
              </a:defRPr>
            </a:pPr>
            <a:r>
              <a:t>Rilasciato (attuale):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✓  Dashboard con KPI e grafici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✓  Anagrafiche complete (7 entità)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✓  Raccolta ordini con lookup tariffa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✓  Planner V2 con griglie duali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✓  Mappa con percorsi stradali OSRM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✓  GPS live tracking con ETA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✓  9 listini con 90 regole tariffarie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✓  Fatturazione proforma/definitiva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✓  Disponibilità mezzi e autisti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2D3EE"/>
                </a:solidFill>
                <a:latin typeface="Calibri"/>
              </a:defRPr>
            </a:pPr>
            <a:r>
              <a:t>Prossimi sviluppi: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→  Tracking GPS reale con provider hardware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→  Portale clienti per ordini e monitoraggio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→  Export PDF: Istruzioni Operative, CMR, Fattura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→  Integrazione ERP/SAP per export fatture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→  Import automatico ordini da portali esterni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→  Sicurezza JWT + RBAC completo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→  Monitoraggio temperatura cisterne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→  App mobile per autisti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LoginBusiness TMS — FECCIA F.lli — Res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22D3EE"/>
                </a:solidFill>
                <a:latin typeface="Calibri"/>
              </a:defRPr>
            </a:pPr>
            <a:r>
              <a:t>Grazie per l'attenzione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